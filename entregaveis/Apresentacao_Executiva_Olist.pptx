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4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6325C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6325C"/>
                </a:solidFill>
                <a:latin typeface="+mn-lt"/>
              </a:rPr>
              <a:t>Receita mensal por tipo de cliente (R$ mil)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Clientes novos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Sheet1!$A$2:$A$21</c:f>
              <c:multiLvlStrCache>
                <c:ptCount val="20"/>
                <c:lvl>
                  <c:pt idx="0">
                    <c:v>jan/17</c:v>
                  </c:pt>
                  <c:pt idx="1">
                    <c:v>fev/17</c:v>
                  </c:pt>
                  <c:pt idx="2">
                    <c:v>mar/17</c:v>
                  </c:pt>
                  <c:pt idx="3">
                    <c:v>abr/17</c:v>
                  </c:pt>
                  <c:pt idx="4">
                    <c:v>mai/17</c:v>
                  </c:pt>
                  <c:pt idx="5">
                    <c:v>jun/17</c:v>
                  </c:pt>
                  <c:pt idx="6">
                    <c:v>jul/17</c:v>
                  </c:pt>
                  <c:pt idx="7">
                    <c:v>ago/17</c:v>
                  </c:pt>
                  <c:pt idx="8">
                    <c:v>set/17</c:v>
                  </c:pt>
                  <c:pt idx="9">
                    <c:v>out/17</c:v>
                  </c:pt>
                  <c:pt idx="10">
                    <c:v>nov/17</c:v>
                  </c:pt>
                  <c:pt idx="11">
                    <c:v>dez/17</c:v>
                  </c:pt>
                  <c:pt idx="12">
                    <c:v>jan/18</c:v>
                  </c:pt>
                  <c:pt idx="13">
                    <c:v>fev/18</c:v>
                  </c:pt>
                  <c:pt idx="14">
                    <c:v>mar/18</c:v>
                  </c:pt>
                  <c:pt idx="15">
                    <c:v>abr/18</c:v>
                  </c:pt>
                  <c:pt idx="16">
                    <c:v>mai/18</c:v>
                  </c:pt>
                  <c:pt idx="17">
                    <c:v>jun/18</c:v>
                  </c:pt>
                  <c:pt idx="18">
                    <c:v>jul/18</c:v>
                  </c:pt>
                  <c:pt idx="19">
                    <c:v>ago/18</c:v>
                  </c:pt>
                </c:lvl>
              </c:multiLvlStrCache>
            </c:multiLvl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127.3</c:v>
                </c:pt>
                <c:pt idx="1">
                  <c:v>270.4</c:v>
                </c:pt>
                <c:pt idx="2">
                  <c:v>413</c:v>
                </c:pt>
                <c:pt idx="3">
                  <c:v>387.6</c:v>
                </c:pt>
                <c:pt idx="4">
                  <c:v>558.3</c:v>
                </c:pt>
                <c:pt idx="5">
                  <c:v>483</c:v>
                </c:pt>
                <c:pt idx="6">
                  <c:v>556.6</c:v>
                </c:pt>
                <c:pt idx="7">
                  <c:v>633.7</c:v>
                </c:pt>
                <c:pt idx="8">
                  <c:v>686.2</c:v>
                </c:pt>
                <c:pt idx="9">
                  <c:v>736.4</c:v>
                </c:pt>
                <c:pt idx="10">
                  <c:v>1132.2</c:v>
                </c:pt>
                <c:pt idx="11">
                  <c:v>821.1</c:v>
                </c:pt>
                <c:pt idx="12">
                  <c:v>1054.8</c:v>
                </c:pt>
                <c:pt idx="13">
                  <c:v>946.4</c:v>
                </c:pt>
                <c:pt idx="14">
                  <c:v>1097.1</c:v>
                </c:pt>
                <c:pt idx="15">
                  <c:v>1103.9</c:v>
                </c:pt>
                <c:pt idx="16">
                  <c:v>1093.2</c:v>
                </c:pt>
                <c:pt idx="17">
                  <c:v>979.1</c:v>
                </c:pt>
                <c:pt idx="18">
                  <c:v>1000.7</c:v>
                </c:pt>
                <c:pt idx="19">
                  <c:v>956.8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Clientes recorrentes</c:v>
                </c:pt>
              </c:strCache>
            </c:strRef>
          </c:tx>
          <c:spPr>
            <a:solidFill>
              <a:srgbClr val="EB683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Sheet1!$A$2:$A$21</c:f>
              <c:multiLvlStrCache>
                <c:ptCount val="20"/>
                <c:lvl>
                  <c:pt idx="0">
                    <c:v>jan/17</c:v>
                  </c:pt>
                  <c:pt idx="1">
                    <c:v>fev/17</c:v>
                  </c:pt>
                  <c:pt idx="2">
                    <c:v>mar/17</c:v>
                  </c:pt>
                  <c:pt idx="3">
                    <c:v>abr/17</c:v>
                  </c:pt>
                  <c:pt idx="4">
                    <c:v>mai/17</c:v>
                  </c:pt>
                  <c:pt idx="5">
                    <c:v>jun/17</c:v>
                  </c:pt>
                  <c:pt idx="6">
                    <c:v>jul/17</c:v>
                  </c:pt>
                  <c:pt idx="7">
                    <c:v>ago/17</c:v>
                  </c:pt>
                  <c:pt idx="8">
                    <c:v>set/17</c:v>
                  </c:pt>
                  <c:pt idx="9">
                    <c:v>out/17</c:v>
                  </c:pt>
                  <c:pt idx="10">
                    <c:v>nov/17</c:v>
                  </c:pt>
                  <c:pt idx="11">
                    <c:v>dez/17</c:v>
                  </c:pt>
                  <c:pt idx="12">
                    <c:v>jan/18</c:v>
                  </c:pt>
                  <c:pt idx="13">
                    <c:v>fev/18</c:v>
                  </c:pt>
                  <c:pt idx="14">
                    <c:v>mar/18</c:v>
                  </c:pt>
                  <c:pt idx="15">
                    <c:v>abr/18</c:v>
                  </c:pt>
                  <c:pt idx="16">
                    <c:v>mai/18</c:v>
                  </c:pt>
                  <c:pt idx="17">
                    <c:v>jun/18</c:v>
                  </c:pt>
                  <c:pt idx="18">
                    <c:v>jul/18</c:v>
                  </c:pt>
                  <c:pt idx="19">
                    <c:v>ago/18</c:v>
                  </c:pt>
                </c:lvl>
              </c:multiLvlStrCache>
            </c:multiLvlStrRef>
          </c:cat>
          <c:val>
            <c:numRef>
              <c:f>Sheet1!$C$2:$C$21</c:f>
              <c:numCache>
                <c:formatCode>General</c:formatCode>
                <c:ptCount val="20"/>
                <c:pt idx="0">
                  <c:v>0.2</c:v>
                </c:pt>
                <c:pt idx="1">
                  <c:v>0.8</c:v>
                </c:pt>
                <c:pt idx="2">
                  <c:v>1.4</c:v>
                </c:pt>
                <c:pt idx="3">
                  <c:v>3.2</c:v>
                </c:pt>
                <c:pt idx="4">
                  <c:v>8.5</c:v>
                </c:pt>
                <c:pt idx="5">
                  <c:v>7</c:v>
                </c:pt>
                <c:pt idx="6">
                  <c:v>9.7</c:v>
                </c:pt>
                <c:pt idx="7">
                  <c:v>12.2</c:v>
                </c:pt>
                <c:pt idx="8">
                  <c:v>14.8</c:v>
                </c:pt>
                <c:pt idx="9">
                  <c:v>14.8</c:v>
                </c:pt>
                <c:pt idx="10">
                  <c:v>21.2</c:v>
                </c:pt>
                <c:pt idx="11">
                  <c:v>22</c:v>
                </c:pt>
                <c:pt idx="12">
                  <c:v>23</c:v>
                </c:pt>
                <c:pt idx="13">
                  <c:v>19.8</c:v>
                </c:pt>
                <c:pt idx="14">
                  <c:v>23.5</c:v>
                </c:pt>
                <c:pt idx="15">
                  <c:v>29</c:v>
                </c:pt>
                <c:pt idx="16">
                  <c:v>35.6</c:v>
                </c:pt>
                <c:pt idx="17">
                  <c:v>32.9</c:v>
                </c:pt>
                <c:pt idx="18">
                  <c:v>27.2</c:v>
                </c:pt>
                <c:pt idx="19">
                  <c:v>28.7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2700000"/>
          <a:lstStyle/>
          <a:p>
            <a:pPr>
              <a:defRPr sz="11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1E0D9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52514E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6325C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6325C"/>
                </a:solidFill>
                <a:latin typeface="+mn-lt"/>
              </a:rPr>
              <a:t>% de notas 1 ou 2, pela entrega x prazo prometido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 prazo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0&quot;%&quot;;;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15+ dias antes</c:v>
                  </c:pt>
                  <c:pt idx="1">
                    <c:v>7-14 antes</c:v>
                  </c:pt>
                  <c:pt idx="2">
                    <c:v>1-6 antes</c:v>
                  </c:pt>
                  <c:pt idx="3">
                    <c:v>no dia</c:v>
                  </c:pt>
                  <c:pt idx="4">
                    <c:v>1-3 atraso</c:v>
                  </c:pt>
                  <c:pt idx="5">
                    <c:v>4-7 atraso</c:v>
                  </c:pt>
                  <c:pt idx="6">
                    <c:v>8-14 atraso</c:v>
                  </c:pt>
                  <c:pt idx="7">
                    <c:v>15+ atraso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9</c:v>
                </c:pt>
                <c:pt idx="1">
                  <c:v>9</c:v>
                </c:pt>
                <c:pt idx="2">
                  <c:v>10.6</c:v>
                </c:pt>
                <c:pt idx="3">
                  <c:v>12.4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Com atraso</c:v>
                </c:pt>
              </c:strCache>
            </c:strRef>
          </c:tx>
          <c:spPr>
            <a:solidFill>
              <a:srgbClr val="D03B3B"/>
            </a:solidFill>
            <a:effectLst/>
          </c:spPr>
          <c:invertIfNegative val="0"/>
          <c:dLbls>
            <c:numFmt formatCode="0&quot;%&quot;;;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15+ dias antes</c:v>
                  </c:pt>
                  <c:pt idx="1">
                    <c:v>7-14 antes</c:v>
                  </c:pt>
                  <c:pt idx="2">
                    <c:v>1-6 antes</c:v>
                  </c:pt>
                  <c:pt idx="3">
                    <c:v>no dia</c:v>
                  </c:pt>
                  <c:pt idx="4">
                    <c:v>1-3 atraso</c:v>
                  </c:pt>
                  <c:pt idx="5">
                    <c:v>4-7 atraso</c:v>
                  </c:pt>
                  <c:pt idx="6">
                    <c:v>8-14 atraso</c:v>
                  </c:pt>
                  <c:pt idx="7">
                    <c:v>15+ atraso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32.1</c:v>
                </c:pt>
                <c:pt idx="5">
                  <c:v>67.6</c:v>
                </c:pt>
                <c:pt idx="6">
                  <c:v>80.2</c:v>
                </c:pt>
                <c:pt idx="7">
                  <c:v>78.3</c:v>
                </c:pt>
              </c:numCache>
            </c:numRef>
          </c:val>
        </c:ser>
        <c:dLbls>
          <c:numFmt formatCode="0&quot;%&quot;;;;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+mn-lt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1"/>
        <c:axPos val="l"/>
        <c:majorGridlines>
          <c:spPr>
            <a:ln w="6350" cap="flat">
              <a:solidFill>
                <a:srgbClr val="E1E0D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6325C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6325C"/>
                </a:solidFill>
                <a:latin typeface="+mn-lt"/>
              </a:rPr>
              <a:t>% que voltam a comprar, por dias até a 1ª entrega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Recompra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0.0&quot;%&quot;;;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até 5</c:v>
                  </c:pt>
                  <c:pt idx="1">
                    <c:v>5-10</c:v>
                  </c:pt>
                  <c:pt idx="2">
                    <c:v>10-15</c:v>
                  </c:pt>
                  <c:pt idx="3">
                    <c:v>15-20</c:v>
                  </c:pt>
                  <c:pt idx="4">
                    <c:v>20-30</c:v>
                  </c:pt>
                  <c:pt idx="5">
                    <c:v>30+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3.3</c:v>
                </c:pt>
                <c:pt idx="1">
                  <c:v>3.2</c:v>
                </c:pt>
                <c:pt idx="2">
                  <c:v>2.8</c:v>
                </c:pt>
                <c:pt idx="3">
                  <c:v>2.9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Recompra baixa</c:v>
                </c:pt>
              </c:strCache>
            </c:strRef>
          </c:tx>
          <c:spPr>
            <a:solidFill>
              <a:srgbClr val="D03B3B"/>
            </a:solidFill>
            <a:effectLst/>
          </c:spPr>
          <c:invertIfNegative val="0"/>
          <c:dLbls>
            <c:numFmt formatCode="0.0&quot;%&quot;;;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até 5</c:v>
                  </c:pt>
                  <c:pt idx="1">
                    <c:v>5-10</c:v>
                  </c:pt>
                  <c:pt idx="2">
                    <c:v>10-15</c:v>
                  </c:pt>
                  <c:pt idx="3">
                    <c:v>15-20</c:v>
                  </c:pt>
                  <c:pt idx="4">
                    <c:v>20-30</c:v>
                  </c:pt>
                  <c:pt idx="5">
                    <c:v>30+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2.1</c:v>
                </c:pt>
                <c:pt idx="5">
                  <c:v>1.8</c:v>
                </c:pt>
              </c:numCache>
            </c:numRef>
          </c:val>
        </c:ser>
        <c:dLbls>
          <c:numFmt formatCode="0.0&quot;%&quot;;;;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+mn-lt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"/>
        </c:scaling>
        <c:delete val="1"/>
        <c:axPos val="l"/>
        <c:majorGridlines>
          <c:spPr>
            <a:ln w="6350" cap="flat">
              <a:solidFill>
                <a:srgbClr val="E1E0D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6325C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6325C"/>
                </a:solidFill>
                <a:latin typeface="+mn-lt"/>
              </a:rPr>
              <a:t>Receita extra estimada em 12 meses (R$ mil)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Receita extra (R$ mil)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&quot;R$ &quot;#,##0&quot; mil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1F1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Zerar atrasos na 1ª compra</c:v>
                  </c:pt>
                  <c:pt idx="1">
                    <c:v>Entregar tudo em até 10 dias</c:v>
                  </c:pt>
                  <c:pt idx="2">
                    <c:v>Recompra de 5%</c:v>
                  </c:pt>
                  <c:pt idx="3">
                    <c:v>Recompra de 8%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7.4</c:v>
                </c:pt>
                <c:pt idx="1">
                  <c:v>40.6</c:v>
                </c:pt>
                <c:pt idx="2">
                  <c:v>257.9</c:v>
                </c:pt>
                <c:pt idx="3">
                  <c:v>617.7</c:v>
                </c:pt>
              </c:numCache>
            </c:numRef>
          </c:val>
        </c:ser>
        <c:dLbls>
          <c:numFmt formatCode="&quot;R$ &quot;#,##0&quot; mil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F1F1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0"/>
        </c:scaling>
        <c:delete val="1"/>
        <c:axPos val="b"/>
        <c:majorGridlines>
          <c:spPr>
            <a:ln w="6350" cap="flat">
              <a:solidFill>
                <a:srgbClr val="E1E0D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Olá! Somos o grupo do Tech Challenge da Fase 1. Analisamos cerca de 100 mil pedidos da Olist para responder a uma pergunta: como transformar o crescimento das vendas em um negócio sustentável.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Olist conecta pequenos lojistas aos grandes marketplaces. A receita de janeiro a agosto cresceu 143% de 2017 para 2018. Mas em 2018 ela parou em cerca de 1 milhão por mês. E o dado que mais chama atenção: quase 98% dos clientes compraram uma única vez. Por isso, a nossa pergunta foi: como transformar esse crescimento em um negócio sustentável, com clientes fiéis e uma experiência melhor?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Antes de analisar, organizamos os dados em três camadas. Extraímos as 9 tabelas originais, padronizamos textos e datas, removemos duplicatas e documentamos cada inconsistência. Tudo virou uma base única, usada por todo o grupo. Para esta análise, montamos uma visão com uma linha por pedido. E validamos: a receita bate exatamente com as demais análises.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Olhando as três frentes: na logística, quase 7% dos pedidos atrasam, o dobro disso no Nordeste, e houve uma crise em março de 2018, com 19% de atraso. Nos pagamentos, o boleto leva mais de um dia só para ser aprovado, e o parcelamento longo sai praticamente sem juros, ou seja, o custo fica com a operação. E na satisfação, o atraso é o grande vilão: a nota cai de 4,3 para 2,3.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gráfico resume o problema. A barra azul é a receita de clientes novos; a laranja, de quem voltou. O crescimento veio quase todo de clientes novos, e em 2018 ficou estável. Só 2% da receita vem de quem volta, embora esse cliente valha o dobro. Ou seja: a Olist precisa conquistar uns 6 mil clientes novos por mês só para manter a receita.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Aqui está a relação entre experiência e fidelização. À esquerda: no prazo, cerca de 10% das notas são ruins; com 4 a 7 dias de atraso, quase 70%. À direita: quem recebe rápido volta mais, 3,3% contra 1,8% de quem esperou mais de 30 dias. Mas repare na escala: mesmo a melhor entrega traz só 3% de volta. Experiência é condição necessária, mas não suficiente.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Nossa resposta tem quatro frentes, nesta ordem. Primeiro, entregar o que promete: prazo calibrado por rota, regras de postagem para os sellers e pedir a avaliação só depois da entrega. Segundo, criar motivos para voltar: um cupom entre 30 e 90 dias após a compra, a janela em que o cliente costuma voltar. Terceiro, crescer no Nordeste, que tem 27% da população e só 9% dos pedidos, mas só depois de corrigir a logística lá. E quarto, cuidar da saúde financeira do crescimento.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Quanto vale cada caminho? Melhorar a entrega protege a reputação, mas o ganho direto em recompra é pequeno: de 7 a 41 mil reais por ano. Já um programa de fidelização que leve a recompra a 5% gera cerca de 258 mil; a 8%, mais de 600 mil reais. À direita, os indicadores que propomos acompanhar todo mês, com metas claras.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concluir: a Olist já provou que sabe vender. O próximo passo é fazer o cliente voltar. Primeiro, entregar o que promete. Depois, fidelizar, onde está o maior ganho. E então, expandir para o Nordeste com a casa arrumada. Como próximo passo, propomos um teste com cupom pós-entrega para medir o efeito real. Obrigado!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SCURO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011680"/>
            <a:ext cx="1051560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4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Tech Challenge – Fase 1  |  FIAP Pós Tech – Data Analytics  |  Olist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280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spc="100" kern="0" dirty="0">
                <a:solidFill>
                  <a:srgbClr val="CADCFC"/>
                </a:solidFill>
              </a:rPr>
              <a:t>TECH CHALLENGE – FASE 1  ·  FIAP PÓS TECH – DATA ANALYTICS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201168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Olist: do crescimento ao negócio sustentável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i="1" dirty="0">
                <a:solidFill>
                  <a:srgbClr val="E6EEFC"/>
                </a:solidFill>
              </a:rPr>
              <a:t>Como transformar vendas em clientes que voltam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3949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Reinaldo Souza Lima Filho  ·  Robinson de Freitas Castro Junior  ·  Rodrigo de Castro Souza  ·  Vinicius Jacomini Vaccari  ·  Vitor Hugo Ramos Guerra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5852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Outubro de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Olist cresceu rápido, mas o cliente não volta</a:t>
            </a:r>
            <a:endParaRPr lang="en-US" sz="3200" dirty="0"/>
          </a:p>
        </p:txBody>
      </p:sp>
      <p:sp>
        <p:nvSpPr>
          <p:cNvPr id="3" name="pergunta"/>
          <p:cNvSpPr/>
          <p:nvPr/>
        </p:nvSpPr>
        <p:spPr>
          <a:xfrm>
            <a:off x="548640" y="1463040"/>
            <a:ext cx="5120640" cy="4480560"/>
          </a:xfrm>
          <a:prstGeom prst="roundRect">
            <a:avLst>
              <a:gd name="adj" fmla="val 1633"/>
            </a:avLst>
          </a:prstGeom>
          <a:solidFill>
            <a:schemeClr val="tx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17830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ADCFC"/>
                </a:solidFill>
              </a:rPr>
              <a:t>A PERGUNTA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240280"/>
            <a:ext cx="43891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a Olist pode transformar o crescimento das vendas em um negócio sustentável, aumentando a fidelização dos clientes e melhorando a experiência de compra?</a:t>
            </a:r>
            <a:endParaRPr lang="en-US" sz="2400" dirty="0"/>
          </a:p>
        </p:txBody>
      </p:sp>
      <p:sp>
        <p:nvSpPr>
          <p:cNvPr id="6" name="stat0"/>
          <p:cNvSpPr/>
          <p:nvPr/>
        </p:nvSpPr>
        <p:spPr>
          <a:xfrm>
            <a:off x="6172200" y="1463040"/>
            <a:ext cx="260604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0" y="178308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+143%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6400800" y="26060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receita de jan–ago,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 2017 para 2018</a:t>
            </a:r>
            <a:endParaRPr lang="en-US" sz="1400" dirty="0"/>
          </a:p>
        </p:txBody>
      </p:sp>
      <p:sp>
        <p:nvSpPr>
          <p:cNvPr id="9" name="stat1"/>
          <p:cNvSpPr/>
          <p:nvPr/>
        </p:nvSpPr>
        <p:spPr>
          <a:xfrm>
            <a:off x="8961120" y="1463040"/>
            <a:ext cx="260604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89720" y="178308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R$ 1,06 mi</a:t>
            </a:r>
            <a:endParaRPr lang="en-US" sz="3600" dirty="0"/>
          </a:p>
        </p:txBody>
      </p:sp>
      <p:sp>
        <p:nvSpPr>
          <p:cNvPr id="11" name="Text 9"/>
          <p:cNvSpPr txBox="1"/>
          <p:nvPr/>
        </p:nvSpPr>
        <p:spPr>
          <a:xfrm>
            <a:off x="9189720" y="26060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receita por mês em 2018: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 crescimento parou</a:t>
            </a:r>
            <a:endParaRPr lang="en-US" sz="1400" dirty="0"/>
          </a:p>
        </p:txBody>
      </p:sp>
      <p:sp>
        <p:nvSpPr>
          <p:cNvPr id="12" name="stat2"/>
          <p:cNvSpPr/>
          <p:nvPr/>
        </p:nvSpPr>
        <p:spPr>
          <a:xfrm>
            <a:off x="6172200" y="3749040"/>
            <a:ext cx="260604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0" y="406908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97,8%</a:t>
            </a:r>
            <a:endParaRPr lang="en-US" sz="36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0" y="48920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dos clientes compraram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uma única vez</a:t>
            </a:r>
            <a:endParaRPr lang="en-US" sz="1400" dirty="0"/>
          </a:p>
        </p:txBody>
      </p:sp>
      <p:sp>
        <p:nvSpPr>
          <p:cNvPr id="15" name="stat3"/>
          <p:cNvSpPr/>
          <p:nvPr/>
        </p:nvSpPr>
        <p:spPr>
          <a:xfrm>
            <a:off x="8961120" y="3749040"/>
            <a:ext cx="260604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89720" y="406908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2,2%</a:t>
            </a:r>
            <a:endParaRPr lang="en-US" sz="3600" dirty="0"/>
          </a:p>
        </p:txBody>
      </p:sp>
      <p:sp>
        <p:nvSpPr>
          <p:cNvPr id="17" name="Text 15"/>
          <p:cNvSpPr txBox="1"/>
          <p:nvPr/>
        </p:nvSpPr>
        <p:spPr>
          <a:xfrm>
            <a:off x="9189720" y="48920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da receita vem de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clientes que voltaram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base única, tratada e validada</a:t>
            </a:r>
            <a:endParaRPr lang="en-US" sz="3200" dirty="0"/>
          </a:p>
        </p:txBody>
      </p:sp>
      <p:sp>
        <p:nvSpPr>
          <p:cNvPr id="3" name="etapa0"/>
          <p:cNvSpPr/>
          <p:nvPr/>
        </p:nvSpPr>
        <p:spPr>
          <a:xfrm>
            <a:off x="548640" y="1600200"/>
            <a:ext cx="2514600" cy="2743200"/>
          </a:xfrm>
          <a:prstGeom prst="roundRect">
            <a:avLst>
              <a:gd name="adj" fmla="val 2909"/>
            </a:avLst>
          </a:prstGeom>
          <a:solidFill>
            <a:schemeClr val="bg2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8745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5146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Extração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971800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9 tabelas públicas da Olist, com cerca de 100 mil pedidos de 2016 a 2018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3072384" y="26974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→</a:t>
            </a:r>
            <a:endParaRPr lang="en-US" sz="2200" dirty="0"/>
          </a:p>
        </p:txBody>
      </p:sp>
      <p:sp>
        <p:nvSpPr>
          <p:cNvPr id="9" name="etapa1"/>
          <p:cNvSpPr/>
          <p:nvPr/>
        </p:nvSpPr>
        <p:spPr>
          <a:xfrm>
            <a:off x="3355848" y="1600200"/>
            <a:ext cx="2514600" cy="2743200"/>
          </a:xfrm>
          <a:prstGeom prst="roundRect">
            <a:avLst>
              <a:gd name="adj" fmla="val 2909"/>
            </a:avLst>
          </a:prstGeom>
          <a:solidFill>
            <a:schemeClr val="bg2"/>
          </a:solidFill>
          <a:ln/>
        </p:spPr>
      </p:sp>
      <p:sp>
        <p:nvSpPr>
          <p:cNvPr id="10" name="Shape 8"/>
          <p:cNvSpPr/>
          <p:nvPr/>
        </p:nvSpPr>
        <p:spPr>
          <a:xfrm>
            <a:off x="3630168" y="18745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630168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630168" y="25146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Transformação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630168" y="2971800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Textos e datas padronizados, 279 mil duplicatas removidas, inconsistências documentadas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879592" y="26974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→</a:t>
            </a:r>
            <a:endParaRPr lang="en-US" sz="2200" dirty="0"/>
          </a:p>
        </p:txBody>
      </p:sp>
      <p:sp>
        <p:nvSpPr>
          <p:cNvPr id="15" name="etapa2"/>
          <p:cNvSpPr/>
          <p:nvPr/>
        </p:nvSpPr>
        <p:spPr>
          <a:xfrm>
            <a:off x="6163056" y="1600200"/>
            <a:ext cx="2514600" cy="2743200"/>
          </a:xfrm>
          <a:prstGeom prst="roundRect">
            <a:avLst>
              <a:gd name="adj" fmla="val 2909"/>
            </a:avLst>
          </a:prstGeom>
          <a:solidFill>
            <a:schemeClr val="bg2"/>
          </a:solidFill>
          <a:ln/>
        </p:spPr>
      </p:sp>
      <p:sp>
        <p:nvSpPr>
          <p:cNvPr id="16" name="Shape 14"/>
          <p:cNvSpPr/>
          <p:nvPr/>
        </p:nvSpPr>
        <p:spPr>
          <a:xfrm>
            <a:off x="6437376" y="18745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37376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437376" y="25146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Carga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6437376" y="2971800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Base tratada única, usada por todas as análises do grupo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686800" y="26974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→</a:t>
            </a:r>
            <a:endParaRPr lang="en-US" sz="2200" dirty="0"/>
          </a:p>
        </p:txBody>
      </p:sp>
      <p:sp>
        <p:nvSpPr>
          <p:cNvPr id="21" name="etapa3"/>
          <p:cNvSpPr/>
          <p:nvPr/>
        </p:nvSpPr>
        <p:spPr>
          <a:xfrm>
            <a:off x="8970264" y="1600200"/>
            <a:ext cx="2514600" cy="2743200"/>
          </a:xfrm>
          <a:prstGeom prst="roundRect">
            <a:avLst>
              <a:gd name="adj" fmla="val 2909"/>
            </a:avLst>
          </a:prstGeom>
          <a:solidFill>
            <a:schemeClr val="bg2"/>
          </a:solidFill>
          <a:ln/>
        </p:spPr>
      </p:sp>
      <p:sp>
        <p:nvSpPr>
          <p:cNvPr id="22" name="Shape 20"/>
          <p:cNvSpPr/>
          <p:nvPr/>
        </p:nvSpPr>
        <p:spPr>
          <a:xfrm>
            <a:off x="9244584" y="18745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244584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9244584" y="25146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Análise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9244584" y="2971800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Uma linha por pedido, unindo logística, pagamento, avaliação e cliente</a:t>
            </a:r>
            <a:endParaRPr lang="en-US" sz="1400" dirty="0"/>
          </a:p>
        </p:txBody>
      </p:sp>
      <p:sp>
        <p:nvSpPr>
          <p:cNvPr id="26" name="regras"/>
          <p:cNvSpPr/>
          <p:nvPr/>
        </p:nvSpPr>
        <p:spPr>
          <a:xfrm>
            <a:off x="548640" y="4663440"/>
            <a:ext cx="11094415" cy="1325880"/>
          </a:xfrm>
          <a:prstGeom prst="roundRect">
            <a:avLst>
              <a:gd name="adj" fmla="val 5517"/>
            </a:avLst>
          </a:prstGeom>
          <a:solidFill>
            <a:srgbClr val="E8F1FC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68680" y="4846320"/>
            <a:ext cx="104543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Regras do estudo: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período de jan/2017 a ago/2018  ·  receita e prazos só de pedidos entregues  ·  cliente contado como pessoa, não por pedido.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Validação: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nenhum pedido duplicado nos cruzamentos e receita de R$ 15.373.120,01, idêntica às demais análises do grupo.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os dados mostram nas três frentes</a:t>
            </a:r>
            <a:endParaRPr lang="en-US" sz="3200" dirty="0"/>
          </a:p>
        </p:txBody>
      </p:sp>
      <p:sp>
        <p:nvSpPr>
          <p:cNvPr id="3" name="frente0"/>
          <p:cNvSpPr/>
          <p:nvPr/>
        </p:nvSpPr>
        <p:spPr>
          <a:xfrm>
            <a:off x="548640" y="1463040"/>
            <a:ext cx="3520440" cy="4617720"/>
          </a:xfrm>
          <a:prstGeom prst="roundRect">
            <a:avLst>
              <a:gd name="adj" fmla="val 2078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68680" y="173736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chemeClr val="accent1"/>
                </a:solidFill>
              </a:rPr>
              <a:t>LOGÍSTICA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14884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6,8%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97180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dos pedidos chegam atrasados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840480"/>
            <a:ext cx="2880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Nordeste: 12,8% de atraso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Crise em mar/2018: 19%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28% dos atrasos começam no seller</a:t>
            </a:r>
            <a:endParaRPr lang="en-US" sz="1400" dirty="0"/>
          </a:p>
        </p:txBody>
      </p:sp>
      <p:sp>
        <p:nvSpPr>
          <p:cNvPr id="8" name="frente1"/>
          <p:cNvSpPr/>
          <p:nvPr/>
        </p:nvSpPr>
        <p:spPr>
          <a:xfrm>
            <a:off x="4315968" y="1463040"/>
            <a:ext cx="3520440" cy="4617720"/>
          </a:xfrm>
          <a:prstGeom prst="roundRect">
            <a:avLst>
              <a:gd name="adj" fmla="val 2078"/>
            </a:avLst>
          </a:prstGeom>
          <a:solidFill>
            <a:schemeClr val="bg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636008" y="173736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chemeClr val="accent1"/>
                </a:solidFill>
              </a:rPr>
              <a:t>PAGAMENTOS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636008" y="214884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 h</a:t>
            </a:r>
            <a:endParaRPr lang="en-US" sz="3600" dirty="0"/>
          </a:p>
        </p:txBody>
      </p:sp>
      <p:sp>
        <p:nvSpPr>
          <p:cNvPr id="11" name="Text 9"/>
          <p:cNvSpPr txBox="1"/>
          <p:nvPr/>
        </p:nvSpPr>
        <p:spPr>
          <a:xfrm>
            <a:off x="4636008" y="297180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para aprovar um boleto (cartão: 0,3 h)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636008" y="3840480"/>
            <a:ext cx="2880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Voucher cancela quase 3 vezes mais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Parcelamento longo quase sem juros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Frete caro leva a mais parcelas</a:t>
            </a:r>
            <a:endParaRPr lang="en-US" sz="1400" dirty="0"/>
          </a:p>
        </p:txBody>
      </p:sp>
      <p:sp>
        <p:nvSpPr>
          <p:cNvPr id="13" name="frente2"/>
          <p:cNvSpPr/>
          <p:nvPr/>
        </p:nvSpPr>
        <p:spPr>
          <a:xfrm>
            <a:off x="8083296" y="1463040"/>
            <a:ext cx="3520440" cy="4617720"/>
          </a:xfrm>
          <a:prstGeom prst="roundRect">
            <a:avLst>
              <a:gd name="adj" fmla="val 2078"/>
            </a:avLst>
          </a:prstGeom>
          <a:solidFill>
            <a:schemeClr val="bg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403336" y="173736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chemeClr val="accent1"/>
                </a:solidFill>
              </a:rPr>
              <a:t>SATISFAÇÃO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403336" y="214884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4,29 → 2,27</a:t>
            </a:r>
            <a:endParaRPr lang="en-US" sz="3600" dirty="0"/>
          </a:p>
        </p:txBody>
      </p:sp>
      <p:sp>
        <p:nvSpPr>
          <p:cNvPr id="16" name="Text 14"/>
          <p:cNvSpPr txBox="1"/>
          <p:nvPr/>
        </p:nvSpPr>
        <p:spPr>
          <a:xfrm>
            <a:off x="8403336" y="297180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nota média: no prazo x atrasado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403336" y="3840480"/>
            <a:ext cx="2880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Pedidos com vários sellers: nota 2,86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5,2% avaliam antes de receber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31 sellers com muitas notas baixas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receita parou de crescer e depende de clientes novos</a:t>
            </a:r>
            <a:endParaRPr lang="en-US" sz="3200" dirty="0"/>
          </a:p>
        </p:txBody>
      </p:sp>
      <p:graphicFrame>
        <p:nvGraphicFramePr>
          <p:cNvPr id="3" name="grafico_receita" descr=""/>
          <p:cNvGraphicFramePr/>
          <p:nvPr/>
        </p:nvGraphicFramePr>
        <p:xfrm>
          <a:off x="548640" y="1371600"/>
          <a:ext cx="768096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allout0"/>
          <p:cNvSpPr/>
          <p:nvPr/>
        </p:nvSpPr>
        <p:spPr>
          <a:xfrm>
            <a:off x="8549640" y="1463040"/>
            <a:ext cx="3090672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8778240" y="164592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2,2%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8778240" y="224028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da receita veio de clientes recorrentes</a:t>
            </a:r>
            <a:endParaRPr lang="en-US" sz="1400" dirty="0"/>
          </a:p>
        </p:txBody>
      </p:sp>
      <p:sp>
        <p:nvSpPr>
          <p:cNvPr id="7" name="callout1"/>
          <p:cNvSpPr/>
          <p:nvPr/>
        </p:nvSpPr>
        <p:spPr>
          <a:xfrm>
            <a:off x="8549640" y="3063240"/>
            <a:ext cx="3090672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778240" y="324612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2x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8778240" y="384048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é quanto vale um cliente que volta (R$ 321 x R$ 162)</a:t>
            </a:r>
            <a:endParaRPr lang="en-US" sz="1400" dirty="0"/>
          </a:p>
        </p:txBody>
      </p:sp>
      <p:sp>
        <p:nvSpPr>
          <p:cNvPr id="10" name="callout2"/>
          <p:cNvSpPr/>
          <p:nvPr/>
        </p:nvSpPr>
        <p:spPr>
          <a:xfrm>
            <a:off x="8549640" y="4663440"/>
            <a:ext cx="3090672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778240" y="484632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 dias</a:t>
            </a:r>
            <a:endParaRPr lang="en-US" sz="3000" dirty="0"/>
          </a:p>
        </p:txBody>
      </p:sp>
      <p:sp>
        <p:nvSpPr>
          <p:cNvPr id="12" name="Text 9"/>
          <p:cNvSpPr txBox="1"/>
          <p:nvPr/>
        </p:nvSpPr>
        <p:spPr>
          <a:xfrm>
            <a:off x="8778240" y="544068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é o tempo mediano para o cliente voltar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Atraso derruba a nota, mas entregar bem não basta</a:t>
            </a:r>
            <a:endParaRPr lang="en-US" sz="3200" dirty="0"/>
          </a:p>
        </p:txBody>
      </p:sp>
      <p:graphicFrame>
        <p:nvGraphicFramePr>
          <p:cNvPr id="3" name="grafico_nota" descr=""/>
          <p:cNvGraphicFramePr/>
          <p:nvPr/>
        </p:nvGraphicFramePr>
        <p:xfrm>
          <a:off x="548640" y="1371600"/>
          <a:ext cx="576072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grafico_recompra" descr=""/>
          <p:cNvGraphicFramePr/>
          <p:nvPr/>
        </p:nvGraphicFramePr>
        <p:xfrm>
          <a:off x="6537960" y="1371600"/>
          <a:ext cx="51206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leitura"/>
          <p:cNvSpPr/>
          <p:nvPr/>
        </p:nvSpPr>
        <p:spPr>
          <a:xfrm>
            <a:off x="548640" y="5715000"/>
            <a:ext cx="11094415" cy="548640"/>
          </a:xfrm>
          <a:prstGeom prst="roundRect">
            <a:avLst>
              <a:gd name="adj" fmla="val 13333"/>
            </a:avLst>
          </a:prstGeom>
          <a:solidFill>
            <a:srgbClr val="E8F1FC"/>
          </a:solidFill>
          <a:ln/>
        </p:spPr>
      </p:sp>
      <p:sp>
        <p:nvSpPr>
          <p:cNvPr id="6" name="Text 2"/>
          <p:cNvSpPr txBox="1"/>
          <p:nvPr/>
        </p:nvSpPr>
        <p:spPr>
          <a:xfrm>
            <a:off x="822960" y="5788152"/>
            <a:ext cx="105457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Leitura: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com 4 dias de atraso, 2 em cada 3 notas são ruins. Mas mesmo com entrega em até 5 dias, só 3,3% dos clientes voltam.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resposta: quatro frentes, nesta ordem</a:t>
            </a:r>
            <a:endParaRPr lang="en-US" sz="3200" dirty="0"/>
          </a:p>
        </p:txBody>
      </p:sp>
      <p:sp>
        <p:nvSpPr>
          <p:cNvPr id="3" name="frente_plano0"/>
          <p:cNvSpPr/>
          <p:nvPr/>
        </p:nvSpPr>
        <p:spPr>
          <a:xfrm>
            <a:off x="548640" y="1463040"/>
            <a:ext cx="2606040" cy="461772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737360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81051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0–3 meses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7744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Entregar o que promete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337560"/>
            <a:ext cx="21488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Prazo calibrado por rota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SLA de postagem para sellers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Avaliar só após a entrega</a:t>
            </a:r>
            <a:endParaRPr lang="en-US" sz="1400" dirty="0"/>
          </a:p>
        </p:txBody>
      </p:sp>
      <p:sp>
        <p:nvSpPr>
          <p:cNvPr id="9" name="frente_plano1"/>
          <p:cNvSpPr/>
          <p:nvPr/>
        </p:nvSpPr>
        <p:spPr>
          <a:xfrm>
            <a:off x="3355848" y="1463040"/>
            <a:ext cx="2606040" cy="4617720"/>
          </a:xfrm>
          <a:prstGeom prst="roundRect">
            <a:avLst>
              <a:gd name="adj" fmla="val 2807"/>
            </a:avLst>
          </a:prstGeom>
          <a:solidFill>
            <a:srgbClr val="E8F1FC"/>
          </a:solidFill>
          <a:ln/>
        </p:spPr>
      </p:sp>
      <p:sp>
        <p:nvSpPr>
          <p:cNvPr id="10" name="Shape 8"/>
          <p:cNvSpPr/>
          <p:nvPr/>
        </p:nvSpPr>
        <p:spPr>
          <a:xfrm>
            <a:off x="3630168" y="17373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630168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224528" y="181051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3–6 meses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630168" y="237744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Criar motivos para voltar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3630168" y="3337560"/>
            <a:ext cx="21488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Cupom entre 30 e 90 dias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Ofertas na mesma categoria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Foco em pet, casa e moda</a:t>
            </a:r>
            <a:endParaRPr lang="en-US" sz="1400" dirty="0"/>
          </a:p>
        </p:txBody>
      </p:sp>
      <p:sp>
        <p:nvSpPr>
          <p:cNvPr id="15" name="frente_plano2"/>
          <p:cNvSpPr/>
          <p:nvPr/>
        </p:nvSpPr>
        <p:spPr>
          <a:xfrm>
            <a:off x="6163056" y="1463040"/>
            <a:ext cx="2606040" cy="461772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/>
        </p:spPr>
      </p:sp>
      <p:sp>
        <p:nvSpPr>
          <p:cNvPr id="16" name="Shape 14"/>
          <p:cNvSpPr/>
          <p:nvPr/>
        </p:nvSpPr>
        <p:spPr>
          <a:xfrm>
            <a:off x="6437376" y="1737360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37376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7031736" y="181051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6–12 meses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437376" y="237744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Crescer no Nordeste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6437376" y="3337560"/>
            <a:ext cx="21488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27% da população, 9% dos pedidos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Atrair sellers locais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Corrigir antes de acelerar</a:t>
            </a:r>
            <a:endParaRPr lang="en-US" sz="1400" dirty="0"/>
          </a:p>
        </p:txBody>
      </p:sp>
      <p:sp>
        <p:nvSpPr>
          <p:cNvPr id="21" name="frente_plano3"/>
          <p:cNvSpPr/>
          <p:nvPr/>
        </p:nvSpPr>
        <p:spPr>
          <a:xfrm>
            <a:off x="8970264" y="1463040"/>
            <a:ext cx="2606040" cy="461772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/>
        </p:spPr>
      </p:sp>
      <p:sp>
        <p:nvSpPr>
          <p:cNvPr id="22" name="Shape 20"/>
          <p:cNvSpPr/>
          <p:nvPr/>
        </p:nvSpPr>
        <p:spPr>
          <a:xfrm>
            <a:off x="9244584" y="1737360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244584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9838944" y="181051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contínuo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9244584" y="237744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Saúde financeira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9244584" y="3337560"/>
            <a:ext cx="21488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Menos dependência de aquisição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Rever parcelamento acima de 6x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Metas por UF e por seller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maior ganho está na fidelização</a:t>
            </a:r>
            <a:endParaRPr lang="en-US" sz="3200" dirty="0"/>
          </a:p>
        </p:txBody>
      </p:sp>
      <p:graphicFrame>
        <p:nvGraphicFramePr>
          <p:cNvPr id="3" name="grafico_simulacao" descr=""/>
          <p:cNvGraphicFramePr/>
          <p:nvPr/>
        </p:nvGraphicFramePr>
        <p:xfrm>
          <a:off x="548640" y="1371600"/>
          <a:ext cx="585216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9" name="tabela_kpi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20840" y="1508760"/>
          <a:ext cx="4919472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987552"/>
                <a:gridCol w="128016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Indicador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32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Hoje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32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Meta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325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Receita de clientes recorrentes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2,2%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A78D6"/>
                          </a:solidFill>
                        </a:rPr>
                        <a:t>5%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Clientes que voltam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2,8%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A78D6"/>
                          </a:solidFill>
                        </a:rPr>
                        <a:t>5% a 8%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4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Pedidos com atraso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7,7%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A78D6"/>
                          </a:solidFill>
                        </a:rPr>
                        <a:t>&lt; 5%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Notas 1 ou 2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13,3%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A78D6"/>
                          </a:solidFill>
                        </a:rPr>
                        <a:t>&lt; 10%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4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Postagem fora do prazo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8,9%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A78D6"/>
                          </a:solidFill>
                        </a:rPr>
                        <a:t>&lt; 5%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6720840" y="4480560"/>
            <a:ext cx="49194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Simulação com os 71,7 mil clientes novos e a receita de R$ 11,9 mi dos últimos 12 meses. Cada ponto percentual a mais de recompra vale cerca de R$ 120 mil por ano.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01168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Primeiro entregar, depois fidelizar, então expandir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548640" y="39776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4005072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Entregar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448056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6EEFC"/>
                </a:solidFill>
              </a:rPr>
              <a:t>Logística é a raiz da insatisfação: corrigir prazo, sellers e processo de avaliação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15968" y="39776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315968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956048" y="4005072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Fidelizar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4956048" y="448056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6EEFC"/>
                </a:solidFill>
              </a:rPr>
              <a:t>O maior ganho financeiro está em trazer o cliente de volta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083296" y="39776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083296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8723376" y="4005072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Expandir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8723376" y="448056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6EEFC"/>
                </a:solidFill>
              </a:rPr>
              <a:t>Crescer no Nordeste com a experiência já corrigida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806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</a:rPr>
              <a:t>Próximo passo: teste A/B de cupom pós-entrega para medir o efeito real na recompra.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list Executivo">
  <a:themeElements>
    <a:clrScheme name="Olist Executivo">
      <a:dk1>
        <a:srgbClr val="1F1F1F"/>
      </a:dk1>
      <a:lt1>
        <a:srgbClr val="FFFFFF"/>
      </a:lt1>
      <a:dk2>
        <a:srgbClr val="16325C"/>
      </a:dk2>
      <a:lt2>
        <a:srgbClr val="F2F4F8"/>
      </a:lt2>
      <a:accent1>
        <a:srgbClr val="2A78D6"/>
      </a:accent1>
      <a:accent2>
        <a:srgbClr val="D03B3B"/>
      </a:accent2>
      <a:accent3>
        <a:srgbClr val="EB6834"/>
      </a:accent3>
      <a:accent4>
        <a:srgbClr val="1BAF7A"/>
      </a:accent4>
      <a:accent5>
        <a:srgbClr val="898781"/>
      </a:accent5>
      <a:accent6>
        <a:srgbClr val="EDA100"/>
      </a:accent6>
      <a:hlink>
        <a:srgbClr val="2A78D6"/>
      </a:hlink>
      <a:folHlink>
        <a:srgbClr val="6250D6"/>
      </a:folHlink>
    </a:clrScheme>
    <a:fontScheme name="Olist Executivo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Olist: do crescimento ao negócio sustentável</dc:title>
  <dc:subject>Tech Challenge – Fase 1 – FIAP Pós Tech</dc:subject>
  <dc:creator>Reinaldo Souza Lima Filho; Robinson de Freitas Castro Junior; Rodrigo de Castro Souza; Vinicius Jacomini Vaccari; Vitor Hugo Ramos Guerra</dc:creator>
  <cp:lastModifiedBy>Reinaldo Souza Lima Filho; Robinson de Freitas Castro Junior; Rodrigo de Castro Souza; Vinicius Jacomini Vaccari; Vitor Hugo Ramos Guerra</cp:lastModifiedBy>
  <cp:revision>1</cp:revision>
  <dcterms:created xsi:type="dcterms:W3CDTF">2026-10-29T01:51:59Z</dcterms:created>
  <dcterms:modified xsi:type="dcterms:W3CDTF">2026-10-29T01:51:59Z</dcterms:modified>
</cp:coreProperties>
</file>